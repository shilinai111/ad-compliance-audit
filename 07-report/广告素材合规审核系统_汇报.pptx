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样本数</c:v>
                </c:pt>
              </c:strCache>
            </c:strRef>
          </c:tx>
          <c:spPr>
            <a:solidFill>
              <a:srgbClr val="185FA5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不违规</c:v>
                </c:pt>
                <c:pt idx="1">
                  <c:v>欺诈</c:v>
                </c:pt>
                <c:pt idx="2">
                  <c:v>博彩</c:v>
                </c:pt>
                <c:pt idx="3">
                  <c:v>黑产广告</c:v>
                </c:pt>
                <c:pt idx="4">
                  <c:v>谩骂引战</c:v>
                </c:pt>
                <c:pt idx="5">
                  <c:v>低俗色情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988</c:v>
                </c:pt>
                <c:pt idx="1">
                  <c:v>1000</c:v>
                </c:pt>
                <c:pt idx="2">
                  <c:v>1748</c:v>
                </c:pt>
                <c:pt idx="3">
                  <c:v>1867</c:v>
                </c:pt>
                <c:pt idx="4">
                  <c:v>1904</c:v>
                </c:pt>
                <c:pt idx="5">
                  <c:v>1996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c98bf64-c9d6-45b5-8454-108e4e9856b9}"/>
      </c:ext>
    </c:extLst>
  </c:chart>
  <c:txPr>
    <a:bodyPr/>
    <a:lstStyle/>
    <a:p>
      <a:pPr>
        <a:defRPr lang="zh-CN" sz="1100">
          <a:latin typeface="微软雅黑" panose="020B050302020402020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自动判定占比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0.00（纯 argmax）</c:v>
                </c:pt>
                <c:pt idx="1">
                  <c:v>0.60（采用）</c:v>
                </c:pt>
                <c:pt idx="2">
                  <c:v>0.80</c:v>
                </c:pt>
                <c:pt idx="3">
                  <c:v>0.90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96</c:v>
                </c:pt>
                <c:pt idx="2">
                  <c:v>90.9</c:v>
                </c:pt>
                <c:pt idx="3">
                  <c:v>85.7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自动判定准确率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0.00（纯 argmax）</c:v>
                </c:pt>
                <c:pt idx="1">
                  <c:v>0.60（采用）</c:v>
                </c:pt>
                <c:pt idx="2">
                  <c:v>0.80</c:v>
                </c:pt>
                <c:pt idx="3">
                  <c:v>0.90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93.1</c:v>
                </c:pt>
                <c:pt idx="1">
                  <c:v>94.88</c:v>
                </c:pt>
                <c:pt idx="2">
                  <c:v>96.55</c:v>
                </c:pt>
                <c:pt idx="3">
                  <c:v>97.92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违规召回</c:v>
                </c:pt>
              </c:strCache>
            </c:strRef>
          </c:tx>
          <c:dLbls>
            <c:delete val="1"/>
          </c:dLbls>
          <c:cat>
            <c:strRef>
              <c:f>Sheet1!$A$2:$A$5</c:f>
              <c:strCache>
                <c:ptCount val="4"/>
                <c:pt idx="0">
                  <c:v>0.00（纯 argmax）</c:v>
                </c:pt>
                <c:pt idx="1">
                  <c:v>0.60（采用）</c:v>
                </c:pt>
                <c:pt idx="2">
                  <c:v>0.80</c:v>
                </c:pt>
                <c:pt idx="3">
                  <c:v>0.90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92.4</c:v>
                </c:pt>
                <c:pt idx="1">
                  <c:v>90.2</c:v>
                </c:pt>
                <c:pt idx="2">
                  <c:v>86.4</c:v>
                </c:pt>
                <c:pt idx="3">
                  <c:v>82.1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5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8d3379b-3b8d-4bd7-8bdd-321bc737c65f}"/>
      </c:ext>
    </c:extLst>
  </c:chart>
  <c:txPr>
    <a:bodyPr/>
    <a:lstStyle/>
    <a:p>
      <a:pPr>
        <a:defRPr lang="zh-CN" sz="1050">
          <a:latin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存盘体积(MB)</c:v>
                </c:pt>
              </c:strCache>
            </c:strRef>
          </c:tx>
          <c:spPr>
            <a:solidFill>
              <a:srgbClr val="185FA5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原始模型</c:v>
                </c:pt>
                <c:pt idx="1">
                  <c:v>动态量化 int8</c:v>
                </c:pt>
                <c:pt idx="2">
                  <c:v>知识蒸馏 12→4 层</c:v>
                </c:pt>
                <c:pt idx="3">
                  <c:v>剪枝 50%</c:v>
                </c:pt>
                <c:pt idx="4">
                  <c:v>剪枝 + 量化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390.2</c:v>
                </c:pt>
                <c:pt idx="1">
                  <c:v>145.6</c:v>
                </c:pt>
                <c:pt idx="2">
                  <c:v>173.9</c:v>
                </c:pt>
                <c:pt idx="3">
                  <c:v>390.2</c:v>
                </c:pt>
                <c:pt idx="4">
                  <c:v>145.6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15f646d4-2348-4a8b-b5ae-33221b5b2ade}"/>
      </c:ext>
    </c:extLst>
  </c:chart>
  <c:txPr>
    <a:bodyPr/>
    <a:lstStyle/>
    <a:p>
      <a:pPr>
        <a:defRPr lang="zh-CN" sz="1000">
          <a:latin typeface="微软雅黑" panose="020B0503020204020204" charset="-122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开场（约 30 秒）：</a:t>
            </a:r>
          </a:p>
          <a:p>
            <a:r>
              <a:t>一句话说清：把「一段广告文案 → 六类合规判定」做成可上线的模型服务，并且**模型没把握时会主动转人工**，而不是硬判。</a:t>
            </a:r>
          </a:p>
          <a:p>
            <a:r>
              <a:t>四条路线都实际跑通了：随机森林、fastText、BERT 微调、大模型，最终选 BERT 加权 + 蒸馏/量化做部署。</a:t>
            </a:r>
          </a:p>
          <a:p>
            <a:r>
              <a:t>提醒自己：全程用真实实验数据，测试集 956 条，不吹指标。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这一页只花 20 秒，让大家知道后面有六块、按顺序讲。</a:t>
            </a:r>
          </a:p>
          <a:p>
            <a:r>
              <a:t>可以补一句：'最后一页我会把容易混淆的口径单独说清楚，避免大家记错数字。'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要点：把'场景'讲成业务方听得懂的话。</a:t>
            </a:r>
          </a:p>
          <a:p>
            <a:r>
              <a:t>必说的两句：① 人工全量审不动（成本/口径/产能）；② **漏放违规的代价远大于误判**——所以后面我会为了提升少数类召回，主动牺牲一点整体精确率。</a:t>
            </a:r>
          </a:p>
          <a:p>
            <a:r>
              <a:t>可能被问：'真实违规占比多少？' 答：实验集里违规占近 90%，真实投放远低于此，这是本项目的已知局限（最后会讲），阈值需要按真实先验重新标定。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重点讲第三条（关键业务约束）——这是整个方案的技术锚点。</a:t>
            </a:r>
          </a:p>
          <a:p>
            <a:r>
              <a:t>话术：'普通分类任务的输出是六选一，但审核业务需要第七种输出：转人工。'后面你会看到，这条约束直接催生了阈值实验、也让 BERT 相对 fastText 的优势成立。</a:t>
            </a:r>
          </a:p>
          <a:p>
            <a:r>
              <a:t>第四条工程需求可以顺势带出'我做了四条路线 + 一个统一前端'。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逐行念完这张表就是最有力的开场——所有目标都达标。</a:t>
            </a:r>
          </a:p>
          <a:p>
            <a:r>
              <a:t>两个必须主动交代的点：</a:t>
            </a:r>
          </a:p>
          <a:p>
            <a:r>
              <a:t>1) 准确率 0.9310 与 macro-F1 0.9343 的差别：macro-F1 略高说明各类更均衡，这是类别加权带来的效果。</a:t>
            </a:r>
          </a:p>
          <a:p>
            <a:r>
              <a:t>2) 底部的口径提醒一定要说——README 的 0.9331 是 **val_f1**，而且来自 dev 验证集（947 条），不是测试集。老师如果看过仓库 README 会问这个。</a:t>
            </a:r>
          </a:p>
          <a:p>
            <a:r>
              <a:t>如果被问'边缘侧是什么设备'：答：CPU 推理场景（无 GPU 的服务器/边缘盒子），指标用蒸馏后 Student 的模型前向耗时 1.68ms 与 45.6M 参数量衡量。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这一页给全局，别陷细节。每层一句话：</a:t>
            </a:r>
          </a:p>
          <a:p>
            <a:r>
              <a:t>数据层：只强调'统一文本契约'——后面所有路线都吃同一份 train/dev/test。</a:t>
            </a:r>
          </a:p>
          <a:p>
            <a:r>
              <a:t>训练层：强调四条路线**都真的跑起来了**，不是只写了个方案。</a:t>
            </a:r>
          </a:p>
          <a:p>
            <a:r>
              <a:t>优化层：点出量化/蒸馏/剪枝各解决不同问题（体积 vs 延迟 vs 稀疏度）。</a:t>
            </a:r>
          </a:p>
          <a:p>
            <a:r>
              <a:t>服务层：统一契约 + 一个前端，这是后面部署部分要展开的。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数据这块讲三件事：哪来的、多大、为什么这么切。</a:t>
            </a:r>
          </a:p>
          <a:p>
            <a:r>
              <a:t>主动说清：**max_len=64 不是我拍的**，是看了长度分布（中位数 17、p95 129）定的。</a:t>
            </a:r>
          </a:p>
          <a:p>
            <a:r>
              <a:t>如果被问'为什么用公开数据集而不是公司数据'：答：这是教学项目，用公开基准保证可复现；真实业务需要按自己的标签体系重新标注，这点在局限里提。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图表是真实统计（我逐行读过三个文件）。</a:t>
            </a:r>
          </a:p>
          <a:p>
            <a:r>
              <a:t>这一页要埋两个伏笔：</a:t>
            </a:r>
          </a:p>
          <a:p>
            <a:r>
              <a:t>1) 欺诈类最少 → 下一页/后面的类别加权就是为了救它（召回 0.77 → 0.94）。</a:t>
            </a:r>
          </a:p>
          <a:p>
            <a:r>
              <a:t>2) 不违规只占 10.4% —— 说一句'这个分布和真实投放很不一样'，为最后的局限铺垫，也显示你知道自己的数据边界。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清洗不要逐条念，重点讲第 4、6 步：</a:t>
            </a:r>
          </a:p>
          <a:p>
            <a:r>
              <a:t>第 4 步（标签冲突丢弃）：这是'数据质量优先'的体现，可以补一句'我统计过冲突样本数量，它们确实是噪声'。</a:t>
            </a:r>
          </a:p>
          <a:p>
            <a:r>
              <a:t>第 6 步（LF 行尾）：这是个真实的坑——Windows 下默认会写成 CRLF，下游 split('\t') 取到的标签会带 \r，int() 直接报错。讲这个会显得你真的跑过代码。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Baseline 的作用是'衬托'，但要客观：</a:t>
            </a:r>
          </a:p>
          <a:p>
            <a:r>
              <a:t>fastText 字级 0.908 其实相当能打，速度还快 100 倍——所以说'如果只追求吞吐，fastText 做粗筛完全可用'，这比一味贬低基线更可信。</a:t>
            </a:r>
          </a:p>
          <a:p>
            <a:r>
              <a:t>**必须主动交代随机森林的口径问题**：它用的是自带 8:2 切分，不是统一测试集，0.784 不能和 0.908 直接比。老师很可能抓这一点，先说掉。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这一页是全文的技术核心之一。</a:t>
            </a:r>
          </a:p>
          <a:p>
            <a:r>
              <a:t>讲法：先说'普通 CrossEntropy 在 2:1 不平衡下会牺牲少数类'，再给数字：欺诈召回只有 0.77，而审核业务最不能漏的就是欺诈。</a:t>
            </a:r>
          </a:p>
          <a:p>
            <a:r>
              <a:t>然后给解法：类别加权，权重用 √(N/(K·count)) 而不是直接用 N/count，因为**开根号能缓和过度补偿**（直接反比会把多数类压得太狠）。</a:t>
            </a:r>
          </a:p>
          <a:p>
            <a:r>
              <a:t>**务必主动讲代价**：谩骂引战和低俗色情的 F1 都掉了，整体准确率也略降 0.2 个点。能讲清'为什么这笔交换划算'，比只报好消息加分得多。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表格从左到右念，但只重点说三行：欺诈（涨）、谩骂（掉）、低俗（掉）。</a:t>
            </a:r>
          </a:p>
          <a:p>
            <a:r>
              <a:t>然后给一个'有洞察力'的结论：加权不是万能的——我做过误判样本分析，约一半是**标注边界模糊**，属于天花板问题，不是调参能解决的。</a:t>
            </a:r>
          </a:p>
          <a:p>
            <a:r>
              <a:t>这句会让评审觉得你不是只会调参，而是真的看过错例。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这一页信息最密，建议按'左→右→底'讲：</a:t>
            </a:r>
          </a:p>
          <a:p>
            <a:r>
              <a:t>左：蒸馏。最震撼的一句话是'只抽层不蒸馏，macro-F1 只有 0.2445'——说明蒸馏不是可选项，而是让 Student 能用的唯一途径。</a:t>
            </a:r>
          </a:p>
          <a:p>
            <a:r>
              <a:t>α 消融讲'照抄论文会翻车'：KL 不带类别权重，会把上一步类别加权的收益弄丢，提到 0.7 才恢复。这是很硬的经验。</a:t>
            </a:r>
          </a:p>
          <a:p>
            <a:r>
              <a:t>右：剪枝稀疏度阶梯。结论是'剪一半只掉 0.5 个点'→ 模型冗余度高。但一定要补那句'非结构化剪枝不带来 CPU 加速'，否则会被认为不懂稀疏计算。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这页是'业务驱动的改进'，一定要讲出权衡味道：</a:t>
            </a:r>
          </a:p>
          <a:p>
            <a:r>
              <a:t>核心句：'argmax 永远会挑一个类别，但审核业务需要「我不确定」这个答案。'</a:t>
            </a:r>
          </a:p>
          <a:p>
            <a:r>
              <a:t>读图顺序：从左到右，红线（违规召回）一直降、绿线（准确率）一直升，选 0.60 是因为再往上召回掉得太多，漏放违规的代价我们承担不起。</a:t>
            </a:r>
          </a:p>
          <a:p>
            <a:r>
              <a:t>如果被问'阈值怎么定的'：答：按业务能接受的违规召回下限反推，并用实测四个工作点做验证；真实上线应结合人工产能与真实先验重新标定。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这页讲'最终交付的模型长什么样'。</a:t>
            </a:r>
          </a:p>
          <a:p>
            <a:r>
              <a:t>重点两处：</a:t>
            </a:r>
          </a:p>
          <a:p>
            <a:r>
              <a:t>1) **按最优 F1 存盘而不是最后一轮**：我验证过 F1 在第 4 轮达峰、第 5 轮回落，如果按最后一轮存盘就白丢 1 个点。这是很实际的工程细节。</a:t>
            </a:r>
          </a:p>
          <a:p>
            <a:r>
              <a:t>2) 拒判规则与返回契约：这是下一节前端设计的接口基础（pred_class / confidence / need_review / probs）。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指标卡快速念，重点在混淆矩阵。</a:t>
            </a:r>
          </a:p>
          <a:p>
            <a:r>
              <a:t>要指出的两处：</a:t>
            </a:r>
          </a:p>
          <a:p>
            <a:r>
              <a:t>1) 对角线很干净，说明六类整体可分。</a:t>
            </a:r>
          </a:p>
          <a:p>
            <a:r>
              <a:t>2) **最刺眼的是谩骂引战 → 低俗色情 24 条**：辱骂里常带性羞辱词，两类语义天然交叠，这也是为什么低俗色情的精确率在加权后下降。</a:t>
            </a:r>
          </a:p>
          <a:p>
            <a:r>
              <a:t>如果被问'为什么欺诈只有 100 条测试样本'：答：数据集原始分布如此，这也是引入 macro-F1 而不是只看准确率的原因。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这一页的核心是'三种手段各自解决不同问题'，不要说成'都能压缩'。</a:t>
            </a:r>
          </a:p>
          <a:p>
            <a:r>
              <a:t>量化 → 体积（CPU 上 1.41× 加速，精度掉 1.8 个点）</a:t>
            </a:r>
          </a:p>
          <a:p>
            <a:r>
              <a:t>蒸馏 → 延迟与参数量（45.6M 参数、3.08× 加速）</a:t>
            </a:r>
          </a:p>
          <a:p>
            <a:r>
              <a:t>剪枝 → 只省 gzip 体积，**不带来 CPU 加速**（这是最容易被误答的点）</a:t>
            </a:r>
          </a:p>
          <a:p>
            <a:r>
              <a:t>补充：我是按'量化版粗筛 + 原始版复核'的分层部署思路来选的，不是单点最优。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接口设计讲三点：</a:t>
            </a:r>
          </a:p>
          <a:p>
            <a:r>
              <a:t>1) **统一契约**：四条路线字段一致（大模型的分数是自报，要标注清楚），所以前端一次适配就能切换。</a:t>
            </a:r>
          </a:p>
          <a:p>
            <a:r>
              <a:t>2) **端口重新分配**：原来是三条路线都抢 6000，既是冲突、又踩了浏览器的受限端口。现在 8000/8001/8002/5002 互不冲突、都可被浏览器访问。</a:t>
            </a:r>
          </a:p>
          <a:p>
            <a:r>
              <a:t>3) ERR_UNSAFE_PORT 这个坑值得讲——它很难查，因为 curl 永远正常。（说这句会显得你真踩过坑而不是照抄教程。）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前端这页最好现场演示，讲不出效果就照这三句讲：</a:t>
            </a:r>
          </a:p>
          <a:p>
            <a:r>
              <a:t>1) **取代了 4 个分散的 Streamlit 页**，现在一个工作台里能横向对比四条路线。</a:t>
            </a:r>
          </a:p>
          <a:p>
            <a:r>
              <a:t>2) **离线兜底 + 明确标注**：这是有意设计的诚实性——接口挂了就用内置规则，但结论上会写「非模型推理」，绝不让人误以为是模型输出。</a:t>
            </a:r>
          </a:p>
          <a:p>
            <a:r>
              <a:t>3) **同源托管**：把前端挂在服务根路径，前端与接口同源，从根上避开跨域；另外端口必须避开 6000（上一个坑）。</a:t>
            </a:r>
          </a:p>
          <a:p>
            <a:r>
              <a:t>演示脚本：打开 8000 的工作台 → 输入「蠢猪」→ BERT 给谩骂引战 98.7% → 切到随机森林 → 同一句给出低俗色情 0.42 且转人工。这个对比很有冲击力。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收尾三件事，按顺序：</a:t>
            </a:r>
          </a:p>
          <a:p>
            <a:r>
              <a:t>1) 三个结论：选 BERT 的理由、拒判的业务价值、三种压缩手段的分工。</a:t>
            </a:r>
          </a:p>
          <a:p>
            <a:r>
              <a:t>2) **主动说局限**——这比被问出来强得多。尤其第①条'先验分布不同'，是这类项目最本质的问题。</a:t>
            </a:r>
          </a:p>
          <a:p>
            <a:r>
              <a:t>3) **主动交代口径错误**：README 里那个 0.9331 是 val_f1 不是准确率，我已经在报告和前端里纠正为 0.9310 / 0.9343。主动认这一点会显著加分，也会让老师相信其它数字都核对过。</a:t>
            </a:r>
          </a:p>
          <a:p>
            <a:r>
              <a:t>结尾：如果被问到答不上来的，就说'这个我还没验证过，回去补'——不要编。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15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1783080"/>
            <a:ext cx="10241280" cy="8693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广告素材合规审核系统</a:t>
            </a:r>
            <a:endParaRPr sz="44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" y="2761488"/>
            <a:ext cx="10241280" cy="4273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中文短文本六分类 · 从业务需求到轻量化部署</a:t>
            </a:r>
            <a:endParaRPr sz="190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8992" y="3401568"/>
            <a:ext cx="1828800" cy="381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" y="3703320"/>
            <a:ext cx="10241280" cy="1060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四条技术路线对比（随机森林 / fastText / BERT 微调 / 大模型）</a:t>
            </a:r>
            <a:endParaRPr sz="140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置信度拒判 · 动态量化 · 知识蒸馏 · 非结构化剪枝</a:t>
            </a:r>
            <a:endParaRPr sz="140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四路线 API 服务 + 单文件前端审核工作台</a:t>
            </a:r>
            <a:endParaRPr sz="140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5623560"/>
            <a:ext cx="10241280" cy="3206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汇报人</a:t>
            </a:r>
            <a:r>
              <a:rPr lang="en-US" sz="1300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r>
              <a:rPr lang="en-US"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艾</a:t>
            </a:r>
            <a:r>
              <a:rPr lang="zh-CN"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卫俊</a:t>
            </a:r>
            <a:r>
              <a:rPr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</a:t>
            </a:r>
            <a:r>
              <a:rPr sz="1300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</a:t>
            </a:r>
            <a:r>
              <a:rPr lang="en-US" sz="1300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</a:t>
            </a:r>
            <a:r>
              <a:rPr sz="1300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zh-CN" sz="1300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组内成员</a:t>
            </a:r>
            <a:r>
              <a:rPr sz="1300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</a:t>
            </a:r>
            <a:r>
              <a:rPr lang="zh-CN" altLang="en-US"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胡广亮</a:t>
            </a:r>
            <a:r>
              <a:rPr lang="en-US" altLang="zh-CN"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</a:t>
            </a:r>
            <a:r>
              <a:rPr lang="zh-CN" altLang="en-US"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牛明生</a:t>
            </a:r>
            <a:r>
              <a:rPr lang="en-US" altLang="zh-CN"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</a:t>
            </a:r>
            <a:r>
              <a:rPr lang="zh-CN" altLang="en-US"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戚智程</a:t>
            </a:r>
            <a:r>
              <a:rPr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</a:t>
            </a:r>
            <a:r>
              <a:rPr lang="zh-CN" altLang="en-US"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艾卫俊</a:t>
            </a:r>
            <a:r>
              <a:rPr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</a:t>
            </a:r>
            <a:r>
              <a:rPr lang="zh-CN"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郑诗峰</a:t>
            </a:r>
            <a:r>
              <a:rPr lang="en-US" altLang="zh-CN"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陈静</a:t>
            </a:r>
            <a:r>
              <a:rPr lang="en-US" altLang="zh-CN"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高瑞</a:t>
            </a:r>
            <a:r>
              <a:rPr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</a:t>
            </a:r>
            <a:r>
              <a:rPr lang="zh-CN"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李晨昕</a:t>
            </a:r>
            <a:r>
              <a:rPr lang="en-US" altLang="zh-CN"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曹嘉林</a:t>
            </a:r>
            <a:r>
              <a:rPr sz="1300" u="sng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______</a:t>
            </a:r>
            <a:endParaRPr sz="1300" u="sng">
              <a:solidFill>
                <a:srgbClr val="9CA3A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汇报路线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六个板块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584448" cy="129844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40640" cy="129844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8096" y="1755648"/>
            <a:ext cx="3218688" cy="356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一、业务需求分析</a:t>
            </a:r>
            <a:endParaRPr sz="1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6" y="2139696"/>
            <a:ext cx="3218688" cy="3206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场景（What）· 需求（How）· 量化目标</a:t>
            </a:r>
            <a:endParaRPr sz="115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15968" y="1572768"/>
            <a:ext cx="3584448" cy="129844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15968" y="1572768"/>
            <a:ext cx="40640" cy="129844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17136" y="1755648"/>
            <a:ext cx="3218688" cy="356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二、项目整体架构</a:t>
            </a:r>
            <a:endParaRPr sz="1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17136" y="2139696"/>
            <a:ext cx="3218688" cy="3206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 → 训练 → 优化 → 服务 四层</a:t>
            </a:r>
            <a:endParaRPr sz="115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65008" y="1572768"/>
            <a:ext cx="3584448" cy="129844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65008" y="1572768"/>
            <a:ext cx="40640" cy="129844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66176" y="1755648"/>
            <a:ext cx="3218688" cy="356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三、数据说明</a:t>
            </a:r>
            <a:endParaRPr sz="1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66176" y="2139696"/>
            <a:ext cx="3218688" cy="3206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 · 规模 · 标签分布 · 清洗策略</a:t>
            </a:r>
            <a:endParaRPr sz="115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66928" y="3072384"/>
            <a:ext cx="3584448" cy="129844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928" y="3072384"/>
            <a:ext cx="40640" cy="129844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096" y="3255264"/>
            <a:ext cx="3218688" cy="356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四、模型方案对比</a:t>
            </a:r>
            <a:endParaRPr sz="1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8096" y="3639312"/>
            <a:ext cx="3218688" cy="3206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Baseline · 改进方案 · 消融实验</a:t>
            </a:r>
            <a:endParaRPr sz="115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315968" y="3072384"/>
            <a:ext cx="3584448" cy="129844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15968" y="3072384"/>
            <a:ext cx="40640" cy="129844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17136" y="3255264"/>
            <a:ext cx="3218688" cy="356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五、最终模型方案</a:t>
            </a:r>
            <a:endParaRPr sz="1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17136" y="3639312"/>
            <a:ext cx="3218688" cy="3206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模型架构 · 评测指标</a:t>
            </a:r>
            <a:endParaRPr sz="115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65008" y="3072384"/>
            <a:ext cx="3584448" cy="129844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065008" y="3072384"/>
            <a:ext cx="40640" cy="1298448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66176" y="3255264"/>
            <a:ext cx="3218688" cy="356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六、模型部署</a:t>
            </a:r>
            <a:endParaRPr sz="1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66176" y="3639312"/>
            <a:ext cx="3218688" cy="3206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压缩方法 · 接口设计 · 前端设计</a:t>
            </a:r>
            <a:endParaRPr sz="115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6928" y="6382512"/>
            <a:ext cx="11064240" cy="26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每一步都给真实数字；口径有歧义的地方我会明确标注来源</a:t>
            </a:r>
            <a:endParaRPr sz="1000" b="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一、业务需求分析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业务场景是什么（What）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6384" y="1627632"/>
            <a:ext cx="10607040" cy="671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广告素材上线投放前必须做合规审核。传统做法是人工全量审核 —— 成本高、口径不一致、产能有瓶颈。</a:t>
            </a:r>
            <a:endParaRPr sz="13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现在要做的是「机器初筛 + 置信度分流」：符合标准的自动放行或拦截，拿不准的转人工。</a:t>
            </a:r>
            <a:endParaRPr sz="13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2743200"/>
            <a:ext cx="35844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2743200"/>
            <a:ext cx="3584448" cy="381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8096" y="2926080"/>
            <a:ext cx="3218688" cy="356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每天的量</a:t>
            </a:r>
            <a:endParaRPr sz="15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3310128"/>
            <a:ext cx="3218688" cy="5886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平台持续产生大量投放文案与素材文本，需要逐条过审</a:t>
            </a:r>
            <a:endParaRPr sz="120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15968" y="2743200"/>
            <a:ext cx="35844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15968" y="2743200"/>
            <a:ext cx="3584448" cy="381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17136" y="2926080"/>
            <a:ext cx="3218688" cy="356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6E5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在线实时</a:t>
            </a:r>
            <a:endParaRPr sz="1500" b="1">
              <a:solidFill>
                <a:srgbClr val="0F6E5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17136" y="3310128"/>
            <a:ext cx="3218688" cy="5886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单条审核要在秒级返回；同时支持批量过一遍历史素材</a:t>
            </a:r>
            <a:endParaRPr sz="120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65008" y="2743200"/>
            <a:ext cx="35844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65008" y="2743200"/>
            <a:ext cx="3584448" cy="38100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66176" y="2926080"/>
            <a:ext cx="3218688" cy="356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854F0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不只是分类</a:t>
            </a:r>
            <a:endParaRPr sz="1500" b="1">
              <a:solidFill>
                <a:srgbClr val="854F0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66176" y="3310128"/>
            <a:ext cx="3218688" cy="5886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结果还要作为投放风控的「内容标签」，供后续策略使用</a:t>
            </a:r>
            <a:endParaRPr sz="120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" y="457200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业务痛点一句话：全量人工审不动，但漏放违规的代价 &gt;&gt; 多审几条的代价 —— 这条决定了后面所有技术取舍。</a:t>
            </a:r>
            <a:endParaRPr sz="1100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一、业务需求分析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业务需求是什么（How）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517904"/>
            <a:ext cx="11064240" cy="676656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" y="1691640"/>
            <a:ext cx="1920240" cy="3206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建模方式</a:t>
            </a:r>
            <a:endParaRPr sz="13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07208" y="1673352"/>
            <a:ext cx="8595360" cy="3314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单标签文本分类：一段广告文案 → 六个类别之一</a:t>
            </a:r>
            <a:endParaRPr sz="12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2249424"/>
            <a:ext cx="110642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8096" y="2423160"/>
            <a:ext cx="1920240" cy="3206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类别体系</a:t>
            </a:r>
            <a:endParaRPr sz="13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07208" y="2404872"/>
            <a:ext cx="8595360" cy="3314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不违规 / 黑产广告 / 欺诈 / 博彩 / 谩骂引战 / 低俗色情（顺序即标签索引，固定不变）</a:t>
            </a:r>
            <a:endParaRPr sz="12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2980944"/>
            <a:ext cx="11064240" cy="676656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096" y="3154680"/>
            <a:ext cx="1920240" cy="3206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关键业务约束</a:t>
            </a:r>
            <a:endParaRPr sz="13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07208" y="3136392"/>
            <a:ext cx="8595360" cy="3314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「没把握」必须是合法输出：置信度 &lt; 阈值 → 转人工复核，而不是强行猜一个类别</a:t>
            </a:r>
            <a:endParaRPr sz="12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3712464"/>
            <a:ext cx="110642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8096" y="3886200"/>
            <a:ext cx="1920240" cy="3206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工程需求</a:t>
            </a:r>
            <a:endParaRPr sz="13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07208" y="3867912"/>
            <a:ext cx="8595360" cy="3314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接口化部署（HTTP API）、支持批量处理、可切换多条技术路线做对比</a:t>
            </a:r>
            <a:endParaRPr sz="12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66928" y="4443984"/>
            <a:ext cx="11064240" cy="676656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8096" y="4617720"/>
            <a:ext cx="1920240" cy="3206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可解释要求</a:t>
            </a:r>
            <a:endParaRPr sz="13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07208" y="4599432"/>
            <a:ext cx="8595360" cy="3314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除类别外，还要给出置信度与六类概率分布，便于人工复核时参考</a:t>
            </a:r>
            <a:endParaRPr sz="12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66928" y="5285232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拒判机制是本项目与「普通文本分类作业」最大的区别：argmax 永远会挑一个类别出来，但真实审核里「我不知道」本身就是一个有效答案。</a:t>
            </a:r>
            <a:endParaRPr sz="1100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一、业务需求分析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业务目标（量化指标）：目标 vs 实测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6424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1737360"/>
                <a:gridCol w="3291840"/>
                <a:gridCol w="2103120"/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目标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实测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判定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测试集 macro-F1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≥ 0.90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0.9343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达标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测试集 准确率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≥ 0.92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0.9310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达标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少数类（欺诈）召回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≥ 0.90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0.94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达标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自动判定占比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≥ 90%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96.0%（阈值 0.60）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达标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主模型体积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≤ 500MB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390.2MB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达标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边缘侧单条延迟（模型前向）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≤ 2ms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1.68ms（蒸馏 Student）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达标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43484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F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854F0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口径提醒：准确率与 macro-F1 采用 04_Bett/实验报告 口径（0.9310 / 0.9343）。README 里写的「准确率 0.9331」实为 dev 验证集的 val_f1，不是准确率，口径问题最后一页会专门说。</a:t>
            </a:r>
            <a:endParaRPr sz="1100">
              <a:solidFill>
                <a:srgbClr val="854F0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二、项目整体架构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四层链路：数据 → 训练 → 优化 → 服务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417320" cy="9144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417320" cy="356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数据层</a:t>
            </a:r>
            <a:endParaRPr sz="15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94560" y="1864043"/>
            <a:ext cx="9235440" cy="3409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原始数据 → 清洗去重 → 分层切分 → 统一文本契约（文本\t标签）</a:t>
            </a:r>
            <a:endParaRPr sz="12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257860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2578608"/>
            <a:ext cx="1417320" cy="9144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2852928"/>
            <a:ext cx="1417320" cy="356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训练层</a:t>
            </a:r>
            <a:endParaRPr sz="15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94560" y="2888171"/>
            <a:ext cx="9235440" cy="3409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四条技术路线并行：随机森林(TF-IDF) · fastText(字/词级) · BERT 微调(主路线) · 大模型提示词</a:t>
            </a:r>
            <a:endParaRPr sz="12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" y="360273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3602736"/>
            <a:ext cx="1417320" cy="914400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928" y="3877056"/>
            <a:ext cx="1417320" cy="356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优化层</a:t>
            </a:r>
            <a:endParaRPr sz="15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94560" y="3912299"/>
            <a:ext cx="9235440" cy="3409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类别加权 · 置信度拒判 · 动态量化(体积) · 知识蒸馏(层数/延迟) · 非结构化剪枝(gzip 体积)</a:t>
            </a:r>
            <a:endParaRPr sz="12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66928" y="4626864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928" y="4626864"/>
            <a:ext cx="1417320" cy="914400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" y="4901184"/>
            <a:ext cx="1417320" cy="3568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服务层</a:t>
            </a:r>
            <a:endParaRPr sz="15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94560" y="4936427"/>
            <a:ext cx="9235440" cy="3409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四路线 HTTP API（各自的端口） + 单文件前端审核工作台 + 转人工分流</a:t>
            </a:r>
            <a:endParaRPr sz="12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66928" y="5705856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工程上的一处关键改造：四条路线原来是四个各自独立的 Streamlit 演示页，现在统一成「同契约 API + 同一个前端工作台」，可现场横向对比。</a:t>
            </a:r>
            <a:endParaRPr sz="1100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三、数据说明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来源与规模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517904"/>
            <a:ext cx="2670048" cy="11887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1664208"/>
            <a:ext cx="2395728" cy="462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9503 条</a:t>
            </a:r>
            <a:endParaRPr sz="2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2176272"/>
            <a:ext cx="2395728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去重后总样本</a:t>
            </a:r>
            <a:endParaRPr sz="115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383280" y="1517904"/>
            <a:ext cx="2670048" cy="11887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29330" y="1664335"/>
            <a:ext cx="2686685" cy="462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F6E5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7600 / 947 / </a:t>
            </a:r>
            <a:r>
              <a:rPr sz="2100" b="1">
                <a:solidFill>
                  <a:srgbClr val="0F6E56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956</a:t>
            </a:r>
            <a:endParaRPr sz="2100" b="1">
              <a:solidFill>
                <a:srgbClr val="0F6E5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94354" y="2213102"/>
            <a:ext cx="2395728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train / dev / test（按类分层 8:1:1）</a:t>
            </a:r>
            <a:endParaRPr sz="115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99632" y="1517904"/>
            <a:ext cx="2670048" cy="11887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45936" y="1664208"/>
            <a:ext cx="2395728" cy="462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854F0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 字</a:t>
            </a:r>
            <a:endParaRPr sz="2100" b="1">
              <a:solidFill>
                <a:srgbClr val="854F0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45936" y="2176272"/>
            <a:ext cx="2395728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文本长度中位数（均值 37.5 字）</a:t>
            </a:r>
            <a:endParaRPr sz="115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015984" y="1517904"/>
            <a:ext cx="2670048" cy="11887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62288" y="1664208"/>
            <a:ext cx="2395728" cy="462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A32D2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 类</a:t>
            </a:r>
            <a:endParaRPr sz="2100" b="1">
              <a:solidFill>
                <a:srgbClr val="A32D2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62288" y="2176272"/>
            <a:ext cx="2395728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标签体系，顺序固定不可变</a:t>
            </a:r>
            <a:endParaRPr sz="115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66928" y="2907792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8096" y="3072384"/>
            <a:ext cx="155448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来源</a:t>
            </a:r>
            <a:endParaRPr sz="125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41447" y="3054096"/>
            <a:ext cx="8961120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zjunlp/ChineseHarm-bench（HuggingFace 公开学术数据集，中文有害内容检测基准）</a:t>
            </a:r>
            <a:endParaRPr sz="120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66928" y="3621024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8096" y="3785616"/>
            <a:ext cx="155448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原始字段</a:t>
            </a:r>
            <a:endParaRPr sz="125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41447" y="3767328"/>
            <a:ext cx="8961120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文本 + 标签；转换为项目统一契约：一行一条「文本\t标签索引」，LF 行尾</a:t>
            </a:r>
            <a:endParaRPr sz="120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66928" y="4334256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8096" y="4498848"/>
            <a:ext cx="155448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切分方式</a:t>
            </a:r>
            <a:endParaRPr sz="125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41447" y="4480560"/>
            <a:ext cx="8961120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按类别分层抽样（stratify），保证 train/dev/test 六类比例一致，随机种子固定 42</a:t>
            </a:r>
            <a:endParaRPr sz="120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66928" y="5047488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096" y="5212080"/>
            <a:ext cx="155448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max_len 依据</a:t>
            </a:r>
            <a:endParaRPr sz="125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41447" y="5193792"/>
            <a:ext cx="8961120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中位数 17 字、均值 37.5 字、p95 129 字 → 取 max_len = 64 覆盖绝大多数样本</a:t>
            </a:r>
            <a:endParaRPr sz="120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三、数据说明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标签分布：六类占比与不平衡度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" y="1481328"/>
          <a:ext cx="6858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481328"/>
            <a:ext cx="3995928" cy="192024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18120" y="1627632"/>
            <a:ext cx="3657600" cy="1245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不平衡比  2.02 : 1</a:t>
            </a:r>
            <a:endParaRPr sz="12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最大类 低俗色情 21.0%（1996 条）</a:t>
            </a:r>
            <a:endParaRPr sz="12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最小类 不违规 10.4%（988 条）</a:t>
            </a:r>
            <a:endParaRPr sz="12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少数类 欺诈 仅 10.5%（1000 条）</a:t>
            </a:r>
            <a:endParaRPr sz="12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635240" y="3529584"/>
            <a:ext cx="3995928" cy="2066543"/>
          </a:xfrm>
          <a:prstGeom prst="roundRect">
            <a:avLst>
              <a:gd name="adj" fmla="val 6000"/>
            </a:avLst>
          </a:prstGeom>
          <a:solidFill>
            <a:srgbClr val="FF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8120" y="3675887"/>
            <a:ext cx="3657600" cy="10814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854F0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为什么分布值得单独讲：</a:t>
            </a:r>
            <a:endParaRPr sz="1150" b="0">
              <a:solidFill>
                <a:srgbClr val="854F0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854F0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欺诈只占 10.5%，是后面召回率翻车的根源；</a:t>
            </a:r>
            <a:endParaRPr sz="1150" b="0">
              <a:solidFill>
                <a:srgbClr val="854F0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854F0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「不违规」只有 10.4%，而真实投放里违规是极少数 —— 先验分布不同，是本项目最大的局限。</a:t>
            </a:r>
            <a:endParaRPr sz="1150" b="0">
              <a:solidFill>
                <a:srgbClr val="854F0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11064240" cy="26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数据来源：01-data/train.txt + dev.txt + test.txt 全量实测统计（9503 条）</a:t>
            </a:r>
            <a:endParaRPr sz="1000" b="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三、数据说明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数据清洗策略：六步流水线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517904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" y="1682496"/>
            <a:ext cx="210312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 空白符归一</a:t>
            </a:r>
            <a:endParaRPr sz="125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90088" y="1664208"/>
            <a:ext cx="8412480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正则把 \t \r \n 统一替换为空格，保证「一行一条」的契约不被破坏</a:t>
            </a:r>
            <a:endParaRPr sz="120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2231136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8096" y="2395728"/>
            <a:ext cx="210312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 过短样本丢弃</a:t>
            </a:r>
            <a:endParaRPr sz="125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90088" y="2377440"/>
            <a:ext cx="8412480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长度 &lt; 2 字的样本视为噪声（多为标注残留）</a:t>
            </a:r>
            <a:endParaRPr sz="120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2944368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096" y="3108960"/>
            <a:ext cx="210312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 完全重复去重</a:t>
            </a:r>
            <a:endParaRPr sz="125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90088" y="3090672"/>
            <a:ext cx="8412480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同一 (文本, 标签) 只保留一条</a:t>
            </a:r>
            <a:endParaRPr sz="120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365760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8096" y="3822192"/>
            <a:ext cx="210312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 标签冲突丢弃</a:t>
            </a:r>
            <a:endParaRPr sz="125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90088" y="3803904"/>
            <a:ext cx="8412480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同一文本被标成不同类别 → 整条丢弃，这类是标注噪声，留着会污染训练与评估</a:t>
            </a:r>
            <a:endParaRPr sz="120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66928" y="4370832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8096" y="4535424"/>
            <a:ext cx="210312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 按类分层切分</a:t>
            </a:r>
            <a:endParaRPr sz="125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90088" y="4517136"/>
            <a:ext cx="8412480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8:1:1 分层抽样，固定随机种子 42，保证三份数据类别比例一致</a:t>
            </a:r>
            <a:endParaRPr sz="120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66928" y="5084064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8096" y="5248656"/>
            <a:ext cx="210312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 固定落盘契约</a:t>
            </a:r>
            <a:endParaRPr sz="125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90088" y="5230368"/>
            <a:ext cx="8412480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文本\t标签索引，显式 LF 行尾（避免 Windows 默认 CRLF 让标签带上 \r）</a:t>
            </a:r>
            <a:endParaRPr sz="120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66928" y="5815584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4 步最容易被忽略也最值钱：标签冲突样本是标注噪声，留着会让模型学到互相矛盾的信号，指标虚低还找不到原因。</a:t>
            </a:r>
            <a:endParaRPr sz="1100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四、模型方案对比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Baseline 设计及效果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64239" cy="224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3749039"/>
                <a:gridCol w="1371600"/>
                <a:gridCol w="1920240"/>
                <a:gridCol w="1371600"/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方案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关键配置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accuracy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macro-F1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单条推理(CPU)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随机森林 + TF-IDF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n_estimators=200，jieba 前 20 词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0.784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0.780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&lt;1 ms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fastText 字级（手动）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dim 32 / wordNgrams 2 / epoch 100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—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0.908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&lt;1 ms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fastText 词级（手动）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jieba 分词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—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0.872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&lt;1 ms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fastText 字级（自动调参）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autotune 30s（结果有波动）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—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0.894~0.909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&lt;1 ms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fastText 词级（自动调参）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体积上限 50M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—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0.855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&lt;1 ms</a:t>
                      </a:r>
                      <a:endParaRPr sz="11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160520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FF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854F0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两点结论：① 传统方法快 100 倍以上，但 F1 低约 2.6 个点；② 随机森林用的是它自带的 8:2 切分（非统一测试集），这一行不能与其它行直接横向比较。</a:t>
            </a:r>
            <a:endParaRPr sz="1100">
              <a:solidFill>
                <a:srgbClr val="854F0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四、模型方案对比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改进方案：BERT 微调 + 类别加权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6446520" cy="969264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1664208"/>
            <a:ext cx="1280160" cy="303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</a:t>
            </a:r>
            <a:endParaRPr sz="12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1938528"/>
            <a:ext cx="603504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bert-base-chinese（12 层，102.3M 参数）+ 单层分类头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2596896"/>
            <a:ext cx="6446520" cy="969264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2724912"/>
            <a:ext cx="1280160" cy="303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超参</a:t>
            </a:r>
            <a:endParaRPr sz="12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2999232"/>
            <a:ext cx="603504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max_len 64 · batch 8 · lr 2e-5 · epochs 3 · weight_decay 1e-2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3657600"/>
            <a:ext cx="6446520" cy="969264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9808" y="3785616"/>
            <a:ext cx="1280160" cy="303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关键改进</a:t>
            </a:r>
            <a:endParaRPr sz="12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4059936"/>
            <a:ext cx="603504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类别加权 CrossEntropy，权重 = √(N / (K·count))，用开根号缓和过度补偿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4718304"/>
            <a:ext cx="6446520" cy="969264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9808" y="4846320"/>
            <a:ext cx="1280160" cy="303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实测权重</a:t>
            </a:r>
            <a:endParaRPr sz="12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9808" y="5120640"/>
            <a:ext cx="603504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不违规 1.27 · 欺诈 1.26 · 黑产广告 0.92 · 博彩 0.95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269480" y="1536192"/>
            <a:ext cx="4361688" cy="18288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52360" y="1664208"/>
            <a:ext cx="4023360" cy="1245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效果（对比无加权基线）</a:t>
            </a:r>
            <a:endParaRPr sz="1250" b="0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accuracy  0.9330 → 0.9310（略降）</a:t>
            </a:r>
            <a:endParaRPr sz="1250" b="0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macro-F1  0.930  → 0.9343（+0.4 点）</a:t>
            </a:r>
            <a:endParaRPr sz="1250" b="0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欺诈召回  0.77   → 0.94（+17 点）</a:t>
            </a:r>
            <a:endParaRPr sz="1250" b="0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269480" y="3511296"/>
            <a:ext cx="4361688" cy="2084831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52360" y="3639312"/>
            <a:ext cx="4023360" cy="17157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代价（主动接受）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谩骂引战 F1  0.934 → 0.912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低俗色情 F1  0.920 → 0.895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业务判断：漏放欺诈的代价远高于多审几条低俗色情，这笔交换划算。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11064240" cy="26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注：整体准确率略降 0.2 个点，是主动用「整体精确率」换「少数类召回」的结果，下一张表逐类看</a:t>
            </a:r>
            <a:endParaRPr sz="1000" b="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四、模型方案对比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消融实验 ①：类别加权逐类影响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6424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  <a:gridCol w="4114800"/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类别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F1 · 基线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F1 · 加权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召回 · 加权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评价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欺诈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0.851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0.904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0.94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核心目标达成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不违规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0.985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0.990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0.99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持平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黑产广告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0.950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0.963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0.96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小幅提升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博彩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0.940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0.941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0.92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持平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谩骂引战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0.934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0.912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0.87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略有牺牲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低俗色情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0.920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0.895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0.94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精确率下降（谩骂→低俗 24 条）</a:t>
                      </a:r>
                      <a:endParaRPr sz="12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43484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加权只救回了「样本不均衡」这一部分：诊断发现约一半误判属于标注边界模糊（「上岸」「打米」「七位数」是博彩黑话，欺诈与博彩语料本身犬牙交错），继续调参收益有限。</a:t>
            </a:r>
            <a:endParaRPr sz="1100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四、模型方案对比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消融实验 ②：蒸馏 α 与剪枝稀疏度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517904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5120640" cy="568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知识蒸馏 12 层 → 4 层（Teacher→Student）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只抽层不蒸馏：macro-F1 仅 0.2445 → 蒸馏后 0.9230（+0.679）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651760"/>
          <a:ext cx="544068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1097280"/>
                <a:gridCol w="1097280"/>
                <a:gridCol w="1097280"/>
              </a:tblGrid>
              <a:tr h="4267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配置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accuracy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macro-F1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欺诈召回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α = 0.5, 3 epochs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0.9153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0.9133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0.77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α = 0.7, 5 epochs（采用）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0.9247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0.9230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0.83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172200" y="1517904"/>
            <a:ext cx="5458968" cy="1005840"/>
          </a:xfrm>
          <a:prstGeom prst="roundRect">
            <a:avLst>
              <a:gd name="adj" fmla="val 6000"/>
            </a:avLst>
          </a:prstGeom>
          <a:solidFill>
            <a:srgbClr val="FF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55080" y="1627632"/>
            <a:ext cx="5120640" cy="806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54F0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踩过的坑：α </a:t>
            </a:r>
            <a:r>
              <a:rPr lang="zh-CN" sz="1150" b="0">
                <a:solidFill>
                  <a:srgbClr val="854F0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设为</a:t>
            </a:r>
            <a:r>
              <a:rPr sz="1150" b="0">
                <a:solidFill>
                  <a:srgbClr val="854F0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0.5</a:t>
            </a:r>
            <a:endParaRPr sz="1150" b="0">
              <a:solidFill>
                <a:srgbClr val="854F0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854F0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KL 软损失不带类别权重，占一半话语权就把少数类拉平了 —— 欺诈召回从 0.94 掉回 0.77。</a:t>
            </a:r>
            <a:endParaRPr sz="1150" b="0">
              <a:solidFill>
                <a:srgbClr val="854F0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2651760"/>
          <a:ext cx="5458968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1463040"/>
                <a:gridCol w="1234440"/>
                <a:gridCol w="1298448"/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目标稀疏度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实际稀疏度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val_acc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val_f1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17%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16.67%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0.9407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0.9414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33%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33.33%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0.9322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0.9330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50%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50.00%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0.9396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0.9390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443484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剪枝的关键认知：未剪枝基线 val_f1 = 0.9441 → 剪掉一半权重只掉 0.5 个点，说明这个 12 层模型在广告审核任务上明显过参数化；但非结构化剪枝省的是 gzip 体积，不省 CPU 时间。</a:t>
            </a:r>
            <a:endParaRPr sz="1100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四、模型方案对比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消融实验 ③：置信度阈值拒判（业务驱动的改进）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" y="1481328"/>
          <a:ext cx="69494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481328"/>
            <a:ext cx="3904487" cy="41605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09560" y="1645920"/>
            <a:ext cx="3566160" cy="42100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怎么读这张图：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阈值 0.00 就是纯 argmax：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全自动，但准确率只有 93.10%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阈值 0.60（最终采用）：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4% 流量转人工，自动判定准确率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提升到 94.88%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阈值 0.90：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准确率最高 97.92%，但违规召回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跌到 82.1% —— 漏放太多，不可接受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结论：0.60 是「准确率提升」与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「召回损失」的平衡点。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11064240" cy="26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四个阈值点是实验报告里的实测工作点；前端工作台落在中间时按线性插值并标注「插值估计」</a:t>
            </a:r>
            <a:endParaRPr sz="1000" b="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五、最终模型方案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模型架构与推理契约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517904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" y="1645920"/>
            <a:ext cx="10607040" cy="6311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输入文本 → BertTokenizer(max_len=64) → bert-base-chinese 12 层编码 → 取 [CLS] 向量 → Dropout → Linear(768 → 6) → softmax → 六类概率</a:t>
            </a:r>
            <a:endParaRPr sz="130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566928" y="2743200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768096" y="2898648"/>
            <a:ext cx="173736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训练设置</a:t>
            </a:r>
            <a:endParaRPr sz="125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624328" y="2880360"/>
            <a:ext cx="877824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epochs 3 · batch_size 8 · lr 2e-5 · weight_decay 1e-2 · 类别加权 CE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4"/>
            </p:custDataLst>
          </p:nvPr>
        </p:nvSpPr>
        <p:spPr>
          <a:xfrm>
            <a:off x="566928" y="3438144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768096" y="3593592"/>
            <a:ext cx="173736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存盘策略</a:t>
            </a:r>
            <a:endParaRPr sz="125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2624328" y="3575304"/>
            <a:ext cx="877824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按最优验证 macro-F1 存盘（而非最后一轮）：验证 F1 在第 4 轮达峰 0.9257，第 5 轮回落到 0.9160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7"/>
            </p:custDataLst>
          </p:nvPr>
        </p:nvSpPr>
        <p:spPr>
          <a:xfrm>
            <a:off x="566928" y="4133088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768096" y="4288536"/>
            <a:ext cx="173736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拒判规则</a:t>
            </a:r>
            <a:endParaRPr sz="125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624328" y="4270248"/>
            <a:ext cx="877824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max(softmax) &lt; conf_threshold(0.60) → 输出「需人工复核」，原判保留在 raw_class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10"/>
            </p:custDataLst>
          </p:nvPr>
        </p:nvSpPr>
        <p:spPr>
          <a:xfrm>
            <a:off x="566928" y="4828032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768096" y="4983480"/>
            <a:ext cx="173736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返回契约</a:t>
            </a:r>
            <a:endParaRPr sz="125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2624328" y="4965192"/>
            <a:ext cx="877824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pred_class · raw_class · confidence · need_review · probs(六类概率数组)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Rounded Rectangle 18"/>
          <p:cNvSpPr/>
          <p:nvPr>
            <p:custDataLst>
              <p:tags r:id="rId13"/>
            </p:custDataLst>
          </p:nvPr>
        </p:nvSpPr>
        <p:spPr>
          <a:xfrm>
            <a:off x="566928" y="5522976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768096" y="5678424"/>
            <a:ext cx="173736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</a:t>
            </a:r>
            <a:endParaRPr sz="125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2624328" y="5660136"/>
            <a:ext cx="8778240" cy="312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 GPU 训练；量化与蒸馏推理强制 CPU（避免设备不一致导致的报错）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五、最终模型方案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评测指标与混淆矩阵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755648" cy="102412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609344"/>
            <a:ext cx="1572768" cy="3917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0.9310</a:t>
            </a:r>
            <a:endParaRPr sz="17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2029968"/>
            <a:ext cx="1572768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accuracy</a:t>
            </a:r>
            <a:endParaRPr sz="110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50592" y="1481328"/>
            <a:ext cx="1755648" cy="102412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42032" y="1609344"/>
            <a:ext cx="1572768" cy="3917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0.9343</a:t>
            </a:r>
            <a:endParaRPr sz="17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42032" y="2029968"/>
            <a:ext cx="1572768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macro-F1</a:t>
            </a:r>
            <a:endParaRPr sz="110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34256" y="1481328"/>
            <a:ext cx="1755648" cy="102412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25696" y="1609344"/>
            <a:ext cx="1572768" cy="3917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0.94</a:t>
            </a:r>
            <a:endParaRPr sz="17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25696" y="2029968"/>
            <a:ext cx="1572768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欺诈召回</a:t>
            </a:r>
            <a:endParaRPr sz="110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1481328"/>
            <a:ext cx="1755648" cy="102412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9360" y="1609344"/>
            <a:ext cx="1572768" cy="3917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390.2MB</a:t>
            </a:r>
            <a:endParaRPr sz="17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09360" y="2029968"/>
            <a:ext cx="1572768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模型体积</a:t>
            </a:r>
            <a:endParaRPr sz="110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01584" y="1481328"/>
            <a:ext cx="1755648" cy="102412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93024" y="1609344"/>
            <a:ext cx="1572768" cy="3917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5.19ms</a:t>
            </a:r>
            <a:endParaRPr sz="17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93024" y="2029968"/>
            <a:ext cx="1572768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模型前向</a:t>
            </a:r>
            <a:endParaRPr sz="110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985248" y="1481328"/>
            <a:ext cx="1755648" cy="102412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76688" y="1609344"/>
            <a:ext cx="1572768" cy="3917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96.0%</a:t>
            </a:r>
            <a:endParaRPr sz="17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076688" y="2029968"/>
            <a:ext cx="1572768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自动判定占比</a:t>
            </a:r>
            <a:endParaRPr sz="110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66928" y="2706624"/>
          <a:ext cx="1106424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1490472"/>
                <a:gridCol w="1490472"/>
                <a:gridCol w="1490472"/>
                <a:gridCol w="1490472"/>
                <a:gridCol w="1490472"/>
                <a:gridCol w="1508760"/>
              </a:tblGrid>
              <a:tr h="37882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真实 \ 预测</a:t>
                      </a:r>
                      <a:endParaRPr sz="10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不违规</a:t>
                      </a:r>
                      <a:endParaRPr sz="10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黑产广告</a:t>
                      </a:r>
                      <a:endParaRPr sz="10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欺诈</a:t>
                      </a:r>
                      <a:endParaRPr sz="10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博彩</a:t>
                      </a:r>
                      <a:endParaRPr sz="10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谩骂引战</a:t>
                      </a:r>
                      <a:endParaRPr sz="10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低俗色情</a:t>
                      </a:r>
                      <a:endParaRPr sz="10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不违规 (100)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黑产广告 (188)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181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欺诈 (100)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94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博彩 (176)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161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谩骂引战 (191)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166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24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低俗色情 (201)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189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66928" y="6382512"/>
            <a:ext cx="11064240" cy="26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混淆矩阵为测试集 956 条实测；最大混淆源：谩骂引战 → 低俗色情 24 条（辱骂文本常带性羞辱词，语义天然交叠）</a:t>
            </a:r>
            <a:endParaRPr sz="1000" b="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六、模型部署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压缩方法：量化 / 蒸馏 / 剪枝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" y="1481328"/>
          <a:ext cx="5120640" cy="3255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97880" y="1481328"/>
          <a:ext cx="5733288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234440"/>
                <a:gridCol w="1234440"/>
                <a:gridCol w="1435608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手段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体积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accuracy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macro-F1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原始模型（加权）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390.2 MB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0.9310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0.9343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动态量化 int8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145.6 MB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0.9150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0.9150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知识蒸馏（4 层）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173.9 MB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0.9247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0.9230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非结构化剪枝 50%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390.2 MB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0.9320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0.9305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剪枝 + 量化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145.6 MB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0.9163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0.9146</a:t>
                      </a:r>
                      <a:endParaRPr sz="105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六、模型部署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部署方案 ① 接口设计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" y="1591056"/>
            <a:ext cx="10607040" cy="591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四条路线统一契约：POST /predict，请求 {"text": "…"}，返回 pred_class · raw_class · confidence · need_review · probs（大模型为自报分数）</a:t>
            </a:r>
            <a:endParaRPr sz="12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432304"/>
          <a:ext cx="1106424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1371600"/>
                <a:gridCol w="3657600"/>
                <a:gridCol w="1097280"/>
                <a:gridCol w="2103120"/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路线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服务端口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置信度来源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拒判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状态</a:t>
                      </a:r>
                      <a:endParaRPr sz="11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185FA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BERT 微调（主）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8000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softmax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✓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已部署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随机森林 + TF-IDF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8001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 棵树投票比例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✓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已部署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fastText（字级）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8002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 类归一化得分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✓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已部署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大模型 DeepSeek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5002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模型自报分数（未校准）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✓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F232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已部署</a:t>
                      </a:r>
                      <a:endParaRPr sz="1100" b="0">
                        <a:solidFill>
                          <a:srgbClr val="1F232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marT="27432" marB="27432" anchor="ctr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4681728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FF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rtlCol="0" anchor="ctr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854F0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一个必须知道的坑：端口**不能用 6000**。6000 在 Chromium（Chrome/Edge）的受限端口名单里，浏览器会直接拒绝连接并报 ERR_UNSAFE_PORT，而 curl / requests 不检查该名单 —— 命令行测试一切正常，只有网页端连不上。</a:t>
            </a:r>
            <a:endParaRPr sz="1100">
              <a:solidFill>
                <a:srgbClr val="854F0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六、模型部署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部署方案 ② 前端设计：单文件审核工作台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517904"/>
            <a:ext cx="69494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6949440" cy="402336"/>
          </a:xfrm>
          <a:prstGeom prst="roundRect">
            <a:avLst>
              <a:gd name="adj" fmla="val 6000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6675120" cy="276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顶部状态条：模型路线切换 · 置信度阈值 · 接口状态 · 设置</a:t>
            </a:r>
            <a:endParaRPr sz="1050" b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1417320" cy="3712463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139696"/>
            <a:ext cx="1280160" cy="25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审核工作台</a:t>
            </a:r>
            <a:endParaRPr sz="95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" y="2688336"/>
            <a:ext cx="1280160" cy="25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批量审核</a:t>
            </a:r>
            <a:endParaRPr sz="95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3236976"/>
            <a:ext cx="1280160" cy="25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审核记录</a:t>
            </a:r>
            <a:endParaRPr sz="95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3785615"/>
            <a:ext cx="1280160" cy="25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指标看板</a:t>
            </a:r>
            <a:endParaRPr sz="95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4334256"/>
            <a:ext cx="1280160" cy="25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方案对比</a:t>
            </a:r>
            <a:endParaRPr sz="95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4882896"/>
            <a:ext cx="1280160" cy="25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接口与部署</a:t>
            </a:r>
            <a:endParaRPr sz="950" b="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121408" y="2048256"/>
            <a:ext cx="5257800" cy="20116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67712" y="2176272"/>
            <a:ext cx="4937760" cy="17106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主工作区：输入文案 → 开始审核</a:t>
            </a:r>
            <a:endParaRPr sz="10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结论卡：判定类别大字 + 置信度 + 处置徽章</a:t>
            </a:r>
            <a:endParaRPr sz="10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（自动通过 / 自动拦截 / 转人工复核）</a:t>
            </a:r>
            <a:endParaRPr sz="10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六类概率条（真实分布，按概率降序，前 3 高亮）</a:t>
            </a:r>
            <a:endParaRPr sz="10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21408" y="4169663"/>
            <a:ext cx="5257800" cy="146304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67712" y="4279392"/>
            <a:ext cx="4937760" cy="5270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右栏：处置分流（阈值-准确率-召回三方权衡，取实验实测工作点）</a:t>
            </a:r>
            <a:endParaRPr sz="10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右栏：最近审核记录（点击可回填重审）</a:t>
            </a:r>
            <a:endParaRPr sz="10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18120" y="1572768"/>
            <a:ext cx="3822191" cy="4284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设计要点</a:t>
            </a:r>
            <a:endParaRPr sz="10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单文件 HTML，双击即用：无构建、无依赖、无 CDN，断网可用</a:t>
            </a:r>
            <a:endParaRPr sz="10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六区工作台取代原来 4 个独立 Streamlit 演示页</a:t>
            </a:r>
            <a:endParaRPr sz="10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 离线兜底：接口不可用时用内置规则演示，并在结论上明确标注「非模型推理」，不伪装</a:t>
            </a:r>
            <a:endParaRPr sz="10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 同源托管：服务根路径直接托管页面，前端与接口同源，彻底绕开跨域</a:t>
            </a:r>
            <a:endParaRPr sz="10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 每条记录都带「真实接口 / 内置规则」来源与模型路线，便于追溯</a:t>
            </a:r>
            <a:endParaRPr sz="10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11064240" cy="26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现场可直接演示：切换四条路线 → 同一批文案的判定与置信度差异一目了然</a:t>
            </a:r>
            <a:endParaRPr sz="1000" b="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2851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总结</a:t>
            </a:r>
            <a:endParaRPr sz="1100" b="1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3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 · 局限  </a:t>
            </a:r>
            <a:endParaRPr sz="2500" b="1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371600" cy="330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7055" y="1481455"/>
            <a:ext cx="11063605" cy="20116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935" y="1609090"/>
            <a:ext cx="9450705" cy="16300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三个结论</a:t>
            </a:r>
            <a:endParaRPr sz="1150" b="0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BERT 加权（0.9310 / 0.9343）显著优于传统基线，是最终采用的主路线；</a:t>
            </a:r>
            <a:endParaRPr sz="1150" b="0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5000"/>
              </a:lnSpc>
            </a:pPr>
            <a:endParaRPr sz="1150" b="0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拒判让 96% 流量自动化、自动判定准确率 +1.8 个点，人工产能放大约 25 倍；</a:t>
            </a:r>
            <a:endParaRPr sz="1150" b="0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5000"/>
              </a:lnSpc>
            </a:pPr>
            <a:endParaRPr sz="1150" b="0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185FA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 量化省体积、蒸馏省延迟—— 按场景组合，而非单点最优。</a:t>
            </a:r>
            <a:endParaRPr sz="1150" b="0">
              <a:solidFill>
                <a:srgbClr val="185FA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7055" y="3639185"/>
            <a:ext cx="11076940" cy="20116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" y="3766820"/>
            <a:ext cx="9942195" cy="15760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</a:t>
            </a: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条局限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仅覆盖文本：真实素材含图片/视频，图文不一致是常见违规手法；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②</a:t>
            </a:r>
            <a:r>
              <a:rPr lang="en-US" sz="115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标签体系不全：六类覆盖不了医疗器械夸大、金融保本承诺等专项条款；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③ </a:t>
            </a:r>
            <a:r>
              <a:rPr sz="1150" b="0">
                <a:solidFill>
                  <a:srgbClr val="1F232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黑话漂移：黑产话术迭代快，模型需要持续用新样本运营更新。</a:t>
            </a:r>
            <a:endParaRPr sz="1150" b="0">
              <a:solidFill>
                <a:srgbClr val="1F232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5705856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9808" y="5797296"/>
            <a:ext cx="10698480" cy="303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感谢聆听 · 欢迎提问      模型输出仅供参考，不构成法律意见；实际投放以监管要求与法务审核为准。</a:t>
            </a:r>
            <a:endParaRPr sz="12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9.28000000000003,&quot;left&quot;:44.64,&quot;top&quot;:216,&quot;width&quot;:871.2}"/>
</p:tagLst>
</file>

<file path=ppt/tags/tag2.xml><?xml version="1.0" encoding="utf-8"?>
<p:tagLst xmlns:p="http://schemas.openxmlformats.org/presentationml/2006/main">
  <p:tag name="KSO_WM_DIAGRAM_VIRTUALLY_FRAME" val="{&quot;height&quot;:269.28000000000003,&quot;left&quot;:44.64,&quot;top&quot;:216,&quot;width&quot;:871.2}"/>
</p:tagLst>
</file>

<file path=ppt/tags/tag3.xml><?xml version="1.0" encoding="utf-8"?>
<p:tagLst xmlns:p="http://schemas.openxmlformats.org/presentationml/2006/main">
  <p:tag name="KSO_WM_DIAGRAM_VIRTUALLY_FRAME" val="{&quot;height&quot;:269.28000000000003,&quot;left&quot;:44.64,&quot;top&quot;:216,&quot;width&quot;:871.2}"/>
</p:tagLst>
</file>

<file path=ppt/tags/tag4.xml><?xml version="1.0" encoding="utf-8"?>
<p:tagLst xmlns:p="http://schemas.openxmlformats.org/presentationml/2006/main">
  <p:tag name="KSO_WM_DIAGRAM_VIRTUALLY_FRAME" val="{&quot;height&quot;:269.28000000000003,&quot;left&quot;:44.64,&quot;top&quot;:216,&quot;width&quot;:871.2}"/>
</p:tagLst>
</file>

<file path=ppt/tags/tag5.xml><?xml version="1.0" encoding="utf-8"?>
<p:tagLst xmlns:p="http://schemas.openxmlformats.org/presentationml/2006/main">
  <p:tag name="KSO_WM_DIAGRAM_VIRTUALLY_FRAME" val="{&quot;height&quot;:269.28000000000003,&quot;left&quot;:44.64,&quot;top&quot;:216,&quot;width&quot;:871.2}"/>
</p:tagLst>
</file>

<file path=ppt/tags/tag6.xml><?xml version="1.0" encoding="utf-8"?>
<p:tagLst xmlns:p="http://schemas.openxmlformats.org/presentationml/2006/main">
  <p:tag name="KSO_WM_DIAGRAM_VIRTUALLY_FRAME" val="{&quot;height&quot;:269.28000000000003,&quot;left&quot;:44.64,&quot;top&quot;:216,&quot;width&quot;:871.2}"/>
</p:tagLst>
</file>

<file path=ppt/tags/tag7.xml><?xml version="1.0" encoding="utf-8"?>
<p:tagLst xmlns:p="http://schemas.openxmlformats.org/presentationml/2006/main">
  <p:tag name="KSO_WM_DIAGRAM_VIRTUALLY_FRAME" val="{&quot;height&quot;:269.28000000000003,&quot;left&quot;:44.64,&quot;top&quot;:216,&quot;width&quot;:871.2}"/>
</p:tagLst>
</file>

<file path=ppt/tags/tag8.xml><?xml version="1.0" encoding="utf-8"?>
<p:tagLst xmlns:p="http://schemas.openxmlformats.org/presentationml/2006/main">
  <p:tag name="KSO_WM_DIAGRAM_VIRTUALLY_FRAME" val="{&quot;height&quot;:269.28000000000003,&quot;left&quot;:44.64,&quot;top&quot;:216,&quot;width&quot;:871.2}"/>
</p:tagLst>
</file>

<file path=ppt/tags/tag9.xml><?xml version="1.0" encoding="utf-8"?>
<p:tagLst xmlns:p="http://schemas.openxmlformats.org/presentationml/2006/main">
  <p:tag name="KSO_WM_DIAGRAM_VIRTUALLY_FRAME" val="{&quot;height&quot;:269.28000000000003,&quot;left&quot;:44.64,&quot;top&quot;:216,&quot;width&quot;:871.2}"/>
</p:tagLst>
</file>

<file path=ppt/tags/tag10.xml><?xml version="1.0" encoding="utf-8"?>
<p:tagLst xmlns:p="http://schemas.openxmlformats.org/presentationml/2006/main">
  <p:tag name="KSO_WM_DIAGRAM_VIRTUALLY_FRAME" val="{&quot;height&quot;:269.28000000000003,&quot;left&quot;:44.64,&quot;top&quot;:216,&quot;width&quot;:871.2}"/>
</p:tagLst>
</file>

<file path=ppt/tags/tag11.xml><?xml version="1.0" encoding="utf-8"?>
<p:tagLst xmlns:p="http://schemas.openxmlformats.org/presentationml/2006/main">
  <p:tag name="KSO_WM_DIAGRAM_VIRTUALLY_FRAME" val="{&quot;height&quot;:269.28000000000003,&quot;left&quot;:44.64,&quot;top&quot;:216,&quot;width&quot;:871.2}"/>
</p:tagLst>
</file>

<file path=ppt/tags/tag12.xml><?xml version="1.0" encoding="utf-8"?>
<p:tagLst xmlns:p="http://schemas.openxmlformats.org/presentationml/2006/main">
  <p:tag name="KSO_WM_DIAGRAM_VIRTUALLY_FRAME" val="{&quot;height&quot;:269.28000000000003,&quot;left&quot;:44.64,&quot;top&quot;:216,&quot;width&quot;:871.2}"/>
</p:tagLst>
</file>

<file path=ppt/tags/tag13.xml><?xml version="1.0" encoding="utf-8"?>
<p:tagLst xmlns:p="http://schemas.openxmlformats.org/presentationml/2006/main">
  <p:tag name="KSO_WM_DIAGRAM_VIRTUALLY_FRAME" val="{&quot;height&quot;:269.28000000000003,&quot;left&quot;:44.64,&quot;top&quot;:216,&quot;width&quot;:871.2}"/>
</p:tagLst>
</file>

<file path=ppt/tags/tag14.xml><?xml version="1.0" encoding="utf-8"?>
<p:tagLst xmlns:p="http://schemas.openxmlformats.org/presentationml/2006/main">
  <p:tag name="KSO_WM_DIAGRAM_VIRTUALLY_FRAME" val="{&quot;height&quot;:269.28000000000003,&quot;left&quot;:44.64,&quot;top&quot;:216,&quot;width&quot;:871.2}"/>
</p:tagLst>
</file>

<file path=ppt/tags/tag15.xml><?xml version="1.0" encoding="utf-8"?>
<p:tagLst xmlns:p="http://schemas.openxmlformats.org/presentationml/2006/main">
  <p:tag name="KSO_WM_DIAGRAM_VIRTUALLY_FRAME" val="{&quot;height&quot;:269.28000000000003,&quot;left&quot;:44.64,&quot;top&quot;:216,&quot;width&quot;:87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6189</Words>
  <Application>WPS 演示</Application>
  <PresentationFormat>On-screen Show (4:3)</PresentationFormat>
  <Paragraphs>843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Administrator</cp:lastModifiedBy>
  <cp:revision>3</cp:revision>
  <dcterms:created xsi:type="dcterms:W3CDTF">2013-01-27T09:14:00Z</dcterms:created>
  <dcterms:modified xsi:type="dcterms:W3CDTF">2026-10-16T02:19:45Z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D7D6485C34CD418BB618769653CC699F_12</vt:lpwstr>
  </property>
</Properties>
</file>